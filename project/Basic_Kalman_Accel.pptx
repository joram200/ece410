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BC32CB4-380D-4C29-B1D9-44BAA5B335E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SPEAKER NOTES  —  1-MINUTE SCRIPT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[0:00]  This project hardware-accelerates the Kalman Filter Measurement Update step for RISC-V SoCs.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[0:07]  The milestone strip traces the full journey. M1 profiled the Kalman filter on a desktop x86 machine in Python — 81.7 microseconds per update — and selected PCIe Gen4 as the target interface. M2 built an initial RTL core using Q16.16 fixed-point with a PCIe TLP endpoint, but precision analysis showed F64 was required. M3 pivoted the entire platform to RVfpgaEL2 — SweRV EL2 on Nexys A7 — switched to AXI4-Lite, rebuilt in F64 with a 3-by-3 systolic GEMM and Newton-Raphson unit, and passed co-simulation. But synthesis failed timing at minus 50 nanoseconds of slack.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[0:30]  Post-M3, we pipelined the Newton-Raphson critical path and closed timing at positive 0.326 nanoseconds slack at 100 MHz.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[0:36]  The roofline on the right shows all three environments. Blue dashed is the x86 desktop — actual Python performance sits far below the x86 roofline because interpreter overhead, not hardware, is the bottleneck. The amber dash-dot is the RVfpgaEL2 bare-metal baseline — the GEMM kernel is compute-bound and close to its ceiling, but that ceiling is only 1.73×10-to-the-minus-4 GFLOP/s because there is no hardware FPU. The green line is our accelerator on the AXI bus: the square shows the 35-times realistic speedup, AXI-limited; the triangle shows peak standalone potential.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[0:52]  Next steps: SoC integration, a C driver, and a state-retention optimization that cuts AXI transactions from 34 down to 5, projecting over 200-times speedup over the RISC-V baseline.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[0:59]  Questions?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── KEY NUMBERS ──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M1 SW (x86 Python):       0.00281 GFLOP/s  (81.7 µs/update, i7-11800H, 51.2 GB/s DDR4)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M3 SW (RVfpgaEL2 GEMM):   1.38×10⁻⁴ GFLOP/s  (1,667 µs/update, SweRV EL2 @ 13 MHz, no HW FPU)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HW standalone (est.):     0.129 GFLOP/s  (100 MHz, ~51 compute cycles/update)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HW + AXI realistic:       0.00138 GFLOP/s  (35× over M3 SW — AXI bottleneck @ 12.5 MHz, 48 µs)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HW + state retention:    &gt;0.00483 GFLOP/s  (&gt;200× over M3 SW — projected, 5 transactions)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M3 synthesis WNS:         −50.419 ns  (92 logic levels, NR combinational chain)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Post-M3 synthesis WNS:    +0.326 ns @ 100 MHz  (NR split to 2-stage pipeline, ~30 levels each)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Verification:             135/135 elements ≤ 4 ULP  (15 iters × 9 x/P elements)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Resources:                14,642 LUTs (23.1%)  ·  126 DSP48E1 (52.5%)  ·  5,535 registers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AXI register map:         CTRL@0x00  STAT@0x08  z@0x10  x_in@0x18–0x28  P_in@0x30–0x70  R@0xE8  x_out@0xA0–0xB0  P_out@0xB8–0xE0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FC0EB1-4665-4E58-B13A-305327ECE1E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21C46F-9B07-497C-92DA-7F8592EA84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C74A5B-43EA-4C8A-BC58-D8CC017F1D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89B278-75CB-4D2C-A171-53BAF27C5B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920158-A291-4F86-8D48-2D589A6B4A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9B27A8-1C6E-483C-8433-12BB62B748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B66D73-16F0-424A-A0CF-72CB5F1329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4A1C2C-AF08-4651-B342-0EE6AC7E54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2AEB1B-39B0-451E-A392-DDCFB0B63D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B6AE46-1403-454C-A35D-5DB7170875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9B4118-EBD0-4D46-80A4-9E901A9BDE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A23409-DFB9-47DB-9C33-A2759D6B56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070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182880" y="36720"/>
            <a:ext cx="10332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Kalman Filter Measurement Update Accelerator  —  AXI4-Lite RISC-V SoC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182880" y="438840"/>
            <a:ext cx="9600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3×3 Systolic GEMM  ·  Newton-Raphson Reciprocal  ·  F64 IEEE-754  ·  Artix-7 100T   |   ECE 410/510  Spring 2026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0" y="658440"/>
            <a:ext cx="12191400" cy="749520"/>
          </a:xfrm>
          <a:prstGeom prst="rect">
            <a:avLst/>
          </a:prstGeom>
          <a:solidFill>
            <a:srgbClr val="1018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5"/>
          <p:cNvSpPr/>
          <p:nvPr/>
        </p:nvSpPr>
        <p:spPr>
          <a:xfrm>
            <a:off x="91440" y="713160"/>
            <a:ext cx="50040" cy="639720"/>
          </a:xfrm>
          <a:prstGeom prst="rect">
            <a:avLst/>
          </a:prstGeom>
          <a:solidFill>
            <a:srgbClr val="2266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201240" y="713160"/>
            <a:ext cx="2837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266CC"/>
                </a:solidFill>
                <a:effectLst/>
                <a:uFillTx/>
                <a:latin typeface="Calibri"/>
              </a:rPr>
              <a:t>M1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201240" y="887040"/>
            <a:ext cx="283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x86 Desktop  (Python / NumPy)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201240" y="105156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i7-11800H @ 4.6 GHz  ·  51.2 GB/s DDR4  ·  F64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201240" y="119772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81.7 µs/update  ·  DOM: linalg.inv  ·  Interface: PCIe Gen4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4" name="Rectangle 10"/>
          <p:cNvSpPr/>
          <p:nvPr/>
        </p:nvSpPr>
        <p:spPr>
          <a:xfrm>
            <a:off x="3093480" y="713160"/>
            <a:ext cx="50040" cy="639720"/>
          </a:xfrm>
          <a:prstGeom prst="rect">
            <a:avLst/>
          </a:prstGeom>
          <a:solidFill>
            <a:srgbClr val="5544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3203280" y="713160"/>
            <a:ext cx="2837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44BB"/>
                </a:solidFill>
                <a:effectLst/>
                <a:uFillTx/>
                <a:latin typeface="Calibri"/>
              </a:rPr>
              <a:t>M2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3203280" y="887040"/>
            <a:ext cx="283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RTL Core  (Verilator Sim)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7" name="TextBox 13"/>
          <p:cNvSpPr/>
          <p:nvPr/>
        </p:nvSpPr>
        <p:spPr>
          <a:xfrm>
            <a:off x="3203280" y="105156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Q16.16 fixed-point compute core  ·  PCIe TLP endpoint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8" name="TextBox 14"/>
          <p:cNvSpPr/>
          <p:nvPr/>
        </p:nvSpPr>
        <p:spPr>
          <a:xfrm>
            <a:off x="3203280" y="119772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Sim PASS  ·  Precision revised to F64 for M3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79" name="Rectangle 15"/>
          <p:cNvSpPr/>
          <p:nvPr/>
        </p:nvSpPr>
        <p:spPr>
          <a:xfrm>
            <a:off x="6095880" y="713160"/>
            <a:ext cx="50040" cy="639720"/>
          </a:xfrm>
          <a:prstGeom prst="rect">
            <a:avLst/>
          </a:prstGeom>
          <a:solidFill>
            <a:srgbClr val="CC7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6205680" y="713160"/>
            <a:ext cx="2837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C7700"/>
                </a:solidFill>
                <a:effectLst/>
                <a:uFillTx/>
                <a:latin typeface="Calibri"/>
              </a:rPr>
              <a:t>M3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6205680" y="887040"/>
            <a:ext cx="283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RVfpgaEL2  (SweRV EL2, AXI4-Lite)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2" name="TextBox 18"/>
          <p:cNvSpPr/>
          <p:nvPr/>
        </p:nvSpPr>
        <p:spPr>
          <a:xfrm>
            <a:off x="6205680" y="105156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F64 3×3 systolic GEMM + Newton-Raphson  ·  C++/Eigen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3" name="TextBox 19"/>
          <p:cNvSpPr/>
          <p:nvPr/>
        </p:nvSpPr>
        <p:spPr>
          <a:xfrm>
            <a:off x="6205680" y="119772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135/135 sim PASS  ·  WNS = −50.4 ns  (timing violation)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4" name="Rectangle 20"/>
          <p:cNvSpPr/>
          <p:nvPr/>
        </p:nvSpPr>
        <p:spPr>
          <a:xfrm>
            <a:off x="9097920" y="713160"/>
            <a:ext cx="50040" cy="639720"/>
          </a:xfrm>
          <a:prstGeom prst="rect">
            <a:avLst/>
          </a:prstGeom>
          <a:solidFill>
            <a:srgbClr val="0088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1"/>
          <p:cNvSpPr/>
          <p:nvPr/>
        </p:nvSpPr>
        <p:spPr>
          <a:xfrm>
            <a:off x="9207720" y="713160"/>
            <a:ext cx="2837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8844"/>
                </a:solidFill>
                <a:effectLst/>
                <a:uFillTx/>
                <a:latin typeface="Calibri"/>
              </a:rPr>
              <a:t>Post-M3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6" name="TextBox 22"/>
          <p:cNvSpPr/>
          <p:nvPr/>
        </p:nvSpPr>
        <p:spPr>
          <a:xfrm>
            <a:off x="9207720" y="887040"/>
            <a:ext cx="283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Timing Closed  (current)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7" name="TextBox 23"/>
          <p:cNvSpPr/>
          <p:nvPr/>
        </p:nvSpPr>
        <p:spPr>
          <a:xfrm>
            <a:off x="9207720" y="105156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NR datapath pipelined  ·  WNS = +0.326 ns @ 100 MHz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8" name="TextBox 24"/>
          <p:cNvSpPr/>
          <p:nvPr/>
        </p:nvSpPr>
        <p:spPr>
          <a:xfrm>
            <a:off x="9207720" y="1197720"/>
            <a:ext cx="2837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35× speedup over RVfpgaEL2 SW  ·  target &gt;200× (state retention)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89" name="Rectangle 25"/>
          <p:cNvSpPr/>
          <p:nvPr/>
        </p:nvSpPr>
        <p:spPr>
          <a:xfrm>
            <a:off x="91440" y="1449360"/>
            <a:ext cx="12008520" cy="13320"/>
          </a:xfrm>
          <a:prstGeom prst="rect">
            <a:avLst/>
          </a:prstGeom>
          <a:solidFill>
            <a:srgbClr val="334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6"/>
          <p:cNvSpPr/>
          <p:nvPr/>
        </p:nvSpPr>
        <p:spPr>
          <a:xfrm>
            <a:off x="146160" y="148140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CCFF"/>
                </a:solidFill>
                <a:effectLst/>
                <a:uFillTx/>
                <a:latin typeface="Calibri"/>
              </a:rPr>
              <a:t>①  What are you doing?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1" name="TextBox 27"/>
          <p:cNvSpPr/>
          <p:nvPr/>
        </p:nvSpPr>
        <p:spPr>
          <a:xfrm>
            <a:off x="274320" y="171000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Hardware-accelerate the Kalman Filter Measurement Update (Correct) phase on FPGA.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2" name="TextBox 28"/>
          <p:cNvSpPr/>
          <p:nvPr/>
        </p:nvSpPr>
        <p:spPr>
          <a:xfrm>
            <a:off x="274320" y="1901880"/>
            <a:ext cx="6363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77CCFF"/>
                </a:solidFill>
                <a:effectLst/>
                <a:uFillTx/>
                <a:latin typeface="Calibri"/>
              </a:rPr>
              <a:t>Predict:  P⁻ₖ = APₖ₋₁Aᵀ + Q   ← software (model flexibility)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3" name="TextBox 29"/>
          <p:cNvSpPr/>
          <p:nvPr/>
        </p:nvSpPr>
        <p:spPr>
          <a:xfrm>
            <a:off x="274320" y="2084760"/>
            <a:ext cx="6363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00CCFF"/>
                </a:solidFill>
                <a:effectLst/>
                <a:uFillTx/>
                <a:latin typeface="Calibri"/>
              </a:rPr>
              <a:t>Correct:  K = P⁻Hᵀ(HP⁻Hᵀ+R)⁻¹  ·  x̂ₖ = x̂⁻+K(z−Hx̂⁻)  ·  Pₖ=(I−KH)P⁻   ← hardware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4" name="Rectangle 30"/>
          <p:cNvSpPr/>
          <p:nvPr/>
        </p:nvSpPr>
        <p:spPr>
          <a:xfrm>
            <a:off x="146160" y="2295000"/>
            <a:ext cx="6491880" cy="10440"/>
          </a:xfrm>
          <a:prstGeom prst="rect">
            <a:avLst/>
          </a:prstGeom>
          <a:solidFill>
            <a:srgbClr val="223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1"/>
          <p:cNvSpPr/>
          <p:nvPr/>
        </p:nvSpPr>
        <p:spPr>
          <a:xfrm>
            <a:off x="146160" y="23500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CCFF"/>
                </a:solidFill>
                <a:effectLst/>
                <a:uFillTx/>
                <a:latin typeface="Calibri"/>
              </a:rPr>
              <a:t>②  How have others implemented this?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6" name="TextBox 32"/>
          <p:cNvSpPr/>
          <p:nvPr/>
        </p:nvSpPr>
        <p:spPr>
          <a:xfrm>
            <a:off x="274320" y="257868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Python: FilterPy / NumPy — pure software, no hardware acceleration.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7" name="TextBox 33"/>
          <p:cNvSpPr/>
          <p:nvPr/>
        </p:nvSpPr>
        <p:spPr>
          <a:xfrm>
            <a:off x="274320" y="277056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C/C++: Eigen library or scalar loops — SW FP emulation on RISC-V  (~75 cycles/FLOP @ 13 MHz, no HW FPU).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98" name="Rectangle 34"/>
          <p:cNvSpPr/>
          <p:nvPr/>
        </p:nvSpPr>
        <p:spPr>
          <a:xfrm>
            <a:off x="146160" y="2990160"/>
            <a:ext cx="6491880" cy="10440"/>
          </a:xfrm>
          <a:prstGeom prst="rect">
            <a:avLst/>
          </a:prstGeom>
          <a:solidFill>
            <a:srgbClr val="223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5"/>
          <p:cNvSpPr/>
          <p:nvPr/>
        </p:nvSpPr>
        <p:spPr>
          <a:xfrm>
            <a:off x="146160" y="304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CCFF"/>
                </a:solidFill>
                <a:effectLst/>
                <a:uFillTx/>
                <a:latin typeface="Calibri"/>
              </a:rPr>
              <a:t>③  What's different here?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0" name="TextBox 36"/>
          <p:cNvSpPr/>
          <p:nvPr/>
        </p:nvSpPr>
        <p:spPr>
          <a:xfrm>
            <a:off x="274320" y="3273480"/>
            <a:ext cx="6537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RTL core (SystemVerilog): 3×3 weight-stationary systolic GEMM array + Newton-Raphson scalar reciprocal FSM.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1" name="TextBox 37"/>
          <p:cNvSpPr/>
          <p:nvPr/>
        </p:nvSpPr>
        <p:spPr>
          <a:xfrm>
            <a:off x="274320" y="346572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AXI4-Lite slave port — reusable on any RISC-V SoC interconnect; target: VeerWolf / SweRV EL2 (Nexys A7).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2" name="TextBox 38"/>
          <p:cNvSpPr/>
          <p:nvPr/>
        </p:nvSpPr>
        <p:spPr>
          <a:xfrm>
            <a:off x="274320" y="365760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F64 IEEE-754 throughout — required for Newton-Raphson convergence and P-matrix numerical stability.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3" name="Rectangle 39"/>
          <p:cNvSpPr/>
          <p:nvPr/>
        </p:nvSpPr>
        <p:spPr>
          <a:xfrm>
            <a:off x="146160" y="3877200"/>
            <a:ext cx="6491880" cy="10440"/>
          </a:xfrm>
          <a:prstGeom prst="rect">
            <a:avLst/>
          </a:prstGeom>
          <a:solidFill>
            <a:srgbClr val="223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40"/>
          <p:cNvSpPr/>
          <p:nvPr/>
        </p:nvSpPr>
        <p:spPr>
          <a:xfrm>
            <a:off x="146160" y="393192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4EE88"/>
                </a:solidFill>
                <a:effectLst/>
                <a:uFillTx/>
                <a:latin typeface="Calibri"/>
              </a:rPr>
              <a:t>④  Accomplished so far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5" name="TextBox 41"/>
          <p:cNvSpPr/>
          <p:nvPr/>
        </p:nvSpPr>
        <p:spPr>
          <a:xfrm>
            <a:off x="274320" y="416052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44EE88"/>
                </a:solidFill>
                <a:effectLst/>
                <a:uFillTx/>
                <a:latin typeface="Calibri"/>
              </a:rPr>
              <a:t>Timing closed at 100 MHz: WNS = +0.326 ns  ·  14,642 LUTs (23.1%)  ·  126 DSP48E1 (52.5%)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6" name="TextBox 42"/>
          <p:cNvSpPr/>
          <p:nvPr/>
        </p:nvSpPr>
        <p:spPr>
          <a:xfrm>
            <a:off x="274320" y="435240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44EE88"/>
                </a:solidFill>
                <a:effectLst/>
                <a:uFillTx/>
                <a:latin typeface="Calibri"/>
              </a:rPr>
              <a:t>Co-simulation PASS: 135 / 135 elements verified ≤ 4 ULP across 15 Kalman iterations.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7" name="TextBox 43"/>
          <p:cNvSpPr/>
          <p:nvPr/>
        </p:nvSpPr>
        <p:spPr>
          <a:xfrm>
            <a:off x="274320" y="454464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RVfpgaEL2 SW baseline: 1.38×10⁻⁴ GFLOP/s  →  HW+AXI realistic: 0.00138 GFLOP/s  (35× speedup)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8" name="Rectangle 44"/>
          <p:cNvSpPr/>
          <p:nvPr/>
        </p:nvSpPr>
        <p:spPr>
          <a:xfrm>
            <a:off x="146160" y="4763880"/>
            <a:ext cx="6491880" cy="10440"/>
          </a:xfrm>
          <a:prstGeom prst="rect">
            <a:avLst/>
          </a:prstGeom>
          <a:solidFill>
            <a:srgbClr val="223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45"/>
          <p:cNvSpPr/>
          <p:nvPr/>
        </p:nvSpPr>
        <p:spPr>
          <a:xfrm>
            <a:off x="146160" y="481896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CC00"/>
                </a:solidFill>
                <a:effectLst/>
                <a:uFillTx/>
                <a:latin typeface="Calibri"/>
              </a:rPr>
              <a:t>⑤  What's next?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0" name="TextBox 46"/>
          <p:cNvSpPr/>
          <p:nvPr/>
        </p:nvSpPr>
        <p:spPr>
          <a:xfrm>
            <a:off x="274320" y="504756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SoC integration: attach accelerator to VeerWolfX AXI bus @ 0x80010000; write bare-metal C driver.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1" name="TextBox 47"/>
          <p:cNvSpPr/>
          <p:nvPr/>
        </p:nvSpPr>
        <p:spPr>
          <a:xfrm>
            <a:off x="274320" y="523944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State retention: P/x internal feedback reduces 34 → 5 AXI transactions/update  →  projected &gt;200× speedup.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2" name="TextBox 48"/>
          <p:cNvSpPr/>
          <p:nvPr/>
        </p:nvSpPr>
        <p:spPr>
          <a:xfrm>
            <a:off x="274320" y="5431680"/>
            <a:ext cx="6363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DDDDEE"/>
                </a:solidFill>
                <a:effectLst/>
                <a:uFillTx/>
                <a:latin typeface="Calibri"/>
              </a:rPr>
              <a:t>Benchmark: measure GFLOP/s on hardware vs. SW baseline to declare success.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pic>
        <p:nvPicPr>
          <p:cNvPr id="113" name="Picture 49" descr="ece410_roofline_v3.png"/>
          <p:cNvPicPr/>
          <p:nvPr/>
        </p:nvPicPr>
        <p:blipFill>
          <a:blip r:embed="rId1"/>
          <a:stretch/>
        </p:blipFill>
        <p:spPr>
          <a:xfrm>
            <a:off x="6812280" y="1481400"/>
            <a:ext cx="5230080" cy="515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Rectangle 50"/>
          <p:cNvSpPr/>
          <p:nvPr/>
        </p:nvSpPr>
        <p:spPr>
          <a:xfrm>
            <a:off x="0" y="6638400"/>
            <a:ext cx="12191400" cy="219240"/>
          </a:xfrm>
          <a:prstGeom prst="rect">
            <a:avLst/>
          </a:prstGeom>
          <a:solidFill>
            <a:srgbClr val="070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51"/>
          <p:cNvSpPr/>
          <p:nvPr/>
        </p:nvSpPr>
        <p:spPr>
          <a:xfrm>
            <a:off x="182880" y="6666120"/>
            <a:ext cx="1182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899BB"/>
                </a:solidFill>
                <a:effectLst/>
                <a:uFillTx/>
                <a:latin typeface="Calibri"/>
              </a:rPr>
              <a:t>xc7a100tcsg324-1  ·  SweRV EL2 @ 13 MHz  ·  VeerWolfX AXI  ·  Nexys A7 FPGA  ·  RVfpgaEL2  ·  F64 IEEE-754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2026-06-03T13:09:53Z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